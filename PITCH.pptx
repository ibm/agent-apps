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 u="none">
                <a:solidFill>
                  <a:srgbClr val="1A1A1A"/>
                </a:solidFill>
              </a:rPr>
              <a:t>cuga-apps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640080" cy="36576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### A multi-app agent platform on top of CUGA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55063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What we built · How it's wired · Where CUGA leaves gaps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 b="0" i="0" u="none">
                <a:solidFill>
                  <a:srgbClr val="555555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 u="none">
                <a:solidFill>
                  <a:srgbClr val="1A1A1A"/>
                </a:solidFill>
              </a:rPr>
              <a:t>The premise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640080" cy="36576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73152" cy="64008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86581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0" i="1" u="none">
                <a:solidFill>
                  <a:srgbClr val="555555"/>
                </a:solidFill>
              </a:rPr>
              <a:t>"Stand up a fleet of demo agent-apps that share a common tool layer, a common UI, and a common test harness — using CUGA as the planner."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20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Two questions this deck answers: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86583"/>
            <a:ext cx="11094415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1" i="0" u="none">
                <a:solidFill>
                  <a:srgbClr val="1A1A1A"/>
                </a:solidFill>
              </a:rPr>
              <a:t>What does it actually take to build a CUGA app at scale?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1" i="0" u="none">
                <a:solidFill>
                  <a:srgbClr val="1A1A1A"/>
                </a:solidFill>
              </a:rPr>
              <a:t>Which gaps in CUGA did we have to fill ourselves?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 b="0" i="0" u="none">
                <a:solidFill>
                  <a:srgbClr val="555555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 u="none">
                <a:solidFill>
                  <a:srgbClr val="1A1A1A"/>
                </a:solidFill>
              </a:rPr>
              <a:t>What we shipped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640080" cy="36576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43000"/>
          <a:ext cx="11094415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212"/>
                <a:gridCol w="7544203"/>
              </a:tblGrid>
              <a:tr h="384048">
                <a:tc>
                  <a:txBody>
                    <a:bodyPr wrap="square"/>
                    <a:lstStyle/>
                    <a:p/>
                  </a:txBody>
                  <a:tcPr marL="73152" marR="73152" marT="36576" marB="36576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>
                    <a:solidFill>
                      <a:srgbClr val="E8EE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 i="0" u="none">
                          <a:solidFill>
                            <a:srgbClr val="1A1A1A"/>
                          </a:solidFill>
                        </a:rPr>
                        <a:t>23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 demo agent-apps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each its own FastAPI process, its own port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 i="0" u="none">
                          <a:solidFill>
                            <a:srgbClr val="1A1A1A"/>
                          </a:solidFill>
                        </a:rPr>
                        <a:t>8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 MCP servers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36+ shared tools (web, knowledge, geo, finance, code, local, text, invocable_apis)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 i="0" u="none">
                          <a:solidFill>
                            <a:srgbClr val="1A1A1A"/>
                          </a:solidFill>
                        </a:rPr>
                        <a:t>1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 umbrella UI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discoverability + per-app deep links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 i="0" u="none">
                          <a:solidFill>
                            <a:srgbClr val="1A1A1A"/>
                          </a:solidFill>
                        </a:rPr>
                        <a:t>1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 tool explorer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browse and invoke any MCP tool from the browser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 i="0" u="none">
                          <a:solidFill>
                            <a:srgbClr val="1A1A1A"/>
                          </a:solidFill>
                        </a:rPr>
                        <a:t>1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 test harness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smoke + MCP + wiring tiers, ~120 tests, no LLM cost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 i="0" u="none">
                          <a:solidFill>
                            <a:srgbClr val="1A1A1A"/>
                          </a:solidFill>
                        </a:rPr>
                        <a:t>1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 LLM factory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RITS / Anthropic / OpenAI / watsonx / litellm / ollama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968496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All in one </a:t>
            </a:r>
            <a:r>
              <a:rPr sz="1800" b="0" i="0" u="none">
                <a:solidFill>
                  <a:srgbClr val="1A1A1A"/>
                </a:solidFill>
                <a:latin typeface="Consolas"/>
              </a:rPr>
              <a:t>docker compose up</a:t>
            </a:r>
            <a:r>
              <a:rPr sz="1800" b="0" i="0" u="none">
                <a:solidFill>
                  <a:srgbClr val="1A1A1A"/>
                </a:solidFill>
              </a:rPr>
              <a:t>. ~5–10 min cold build, seconds after that.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 b="0" i="0" u="none">
                <a:solidFill>
                  <a:srgbClr val="555555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 u="none">
                <a:solidFill>
                  <a:srgbClr val="1A1A1A"/>
                </a:solidFill>
              </a:rPr>
              <a:t>Architecture — the big picture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640080" cy="36576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94415" cy="3648456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820095" cy="3465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        ┌─────────────────────────────┐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        │   Umbrella UI  :3001     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        │   (React + Vite + nginx) 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        └──────────────┬──────────────┘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                       │ deep-links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                       ▼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┌──────────────────────┐         ┌────────────────────────┐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│   23 FastAPI apps    │ ◄─────► │   8 MCP servers     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│   one CugaAgent each │  HTTP   │   (Dockerfile.mcp,  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│   ports 28xxx        │  MCP    │    8 entrypoints)   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└──────────┬───────────┘         └────────────┬───────────┘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      │                 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      │                                  ▼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      │                       ┌─────────────────────┐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      └──────────────────────►│ MCP Tool Explorer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                              │ :28900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                              └─────────────────────┘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01184"/>
            <a:ext cx="11094415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Three layers: </a:t>
            </a:r>
            <a:r>
              <a:rPr sz="1800" b="1" i="0" u="none">
                <a:solidFill>
                  <a:srgbClr val="1A1A1A"/>
                </a:solidFill>
              </a:rPr>
              <a:t>apps</a:t>
            </a:r>
            <a:r>
              <a:rPr sz="1800" b="0" i="0" u="none">
                <a:solidFill>
                  <a:srgbClr val="1A1A1A"/>
                </a:solidFill>
              </a:rPr>
              <a:t> (per-use-case agents), </a:t>
            </a:r>
            <a:r>
              <a:rPr sz="1800" b="1" i="0" u="none">
                <a:solidFill>
                  <a:srgbClr val="1A1A1A"/>
                </a:solidFill>
              </a:rPr>
              <a:t>MCP servers</a:t>
            </a:r>
            <a:r>
              <a:rPr sz="1800" b="0" i="0" u="none">
                <a:solidFill>
                  <a:srgbClr val="1A1A1A"/>
                </a:solidFill>
              </a:rPr>
              <a:t> (shared primitives), </a:t>
            </a:r>
            <a:r>
              <a:rPr sz="1800" b="1" i="0" u="none">
                <a:solidFill>
                  <a:srgbClr val="1A1A1A"/>
                </a:solidFill>
              </a:rPr>
              <a:t>UI</a:t>
            </a:r>
            <a:r>
              <a:rPr sz="1800" b="0" i="0" u="none">
                <a:solidFill>
                  <a:srgbClr val="1A1A1A"/>
                </a:solidFill>
              </a:rPr>
              <a:t> (discovery + invocation). All over HTTP. No direct imports across layers.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 b="0" i="0" u="none">
                <a:solidFill>
                  <a:srgbClr val="555555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 u="none">
                <a:solidFill>
                  <a:srgbClr val="1A1A1A"/>
                </a:solidFill>
              </a:rPr>
              <a:t>The container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640080" cy="36576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11 services. Two images, eight entrypoints in one of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55063"/>
            <a:ext cx="11094415" cy="2441448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46503"/>
            <a:ext cx="10820095" cy="2258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Dockerfile.apps  →  apps             (one container, 24 processes via start.sh)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Dockerfile.mcp   →  mcp-web          (port 29100)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            mcp-knowledge    (29101)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            mcp-geo          (29102)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            mcp-finance      (29103)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            mcp-code         (29104)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            mcp-local        (29105)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            mcp-text         (29106)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            mcp-invocable_apis (29107)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ui/Dockerfile    →  ui               (3001, nginx)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mcp_tool_explorer/Dockerfile → tool explorer (28900)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39"/>
            <a:ext cx="11094415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Apps depend on MCP servers via </a:t>
            </a:r>
            <a:r>
              <a:rPr sz="1800" b="0" i="0" u="none">
                <a:solidFill>
                  <a:srgbClr val="1A1A1A"/>
                </a:solidFill>
                <a:latin typeface="Consolas"/>
              </a:rPr>
              <a:t>depends_on:</a:t>
            </a:r>
            <a:r>
              <a:rPr sz="1800" b="0" i="0" u="none">
                <a:solidFill>
                  <a:srgbClr val="1A1A1A"/>
                </a:solidFill>
              </a:rPr>
              <a:t>. Bind-mounts share the few stateful directories (drop_summarizer/inbox, voice_journal/storage, deck_forge/outputs, etc.).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 b="0" i="0" u="none">
                <a:solidFill>
                  <a:srgbClr val="555555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 u="none">
                <a:solidFill>
                  <a:srgbClr val="1A1A1A"/>
                </a:solidFill>
              </a:rPr>
              <a:t>Why one image for 8 MCP servers?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640080" cy="36576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Each server is </a:t>
            </a:r>
            <a:r>
              <a:rPr sz="1800" b="0" i="0" u="none">
                <a:solidFill>
                  <a:srgbClr val="1A1A1A"/>
                </a:solidFill>
                <a:latin typeface="Consolas"/>
              </a:rPr>
              <a:t>python -m mcp_servers.&lt;name&gt;.server</a:t>
            </a:r>
            <a:r>
              <a:rPr sz="1800" b="0" i="0" u="none">
                <a:solidFill>
                  <a:srgbClr val="1A1A1A"/>
                </a:solidFill>
              </a:rPr>
              <a:t>. They share: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55063"/>
            <a:ext cx="11094415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0" i="0" u="none">
                <a:solidFill>
                  <a:srgbClr val="1A1A1A"/>
                </a:solidFill>
              </a:rPr>
              <a:t>The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_core</a:t>
            </a:r>
            <a:r>
              <a:rPr sz="1600" b="0" i="0" u="none">
                <a:solidFill>
                  <a:srgbClr val="1A1A1A"/>
                </a:solidFill>
              </a:rPr>
              <a:t> envelope (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tool_result</a:t>
            </a:r>
            <a:r>
              <a:rPr sz="1600" b="0" i="0" u="none">
                <a:solidFill>
                  <a:srgbClr val="1A1A1A"/>
                </a:solidFill>
              </a:rPr>
              <a:t>,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tool_error</a:t>
            </a:r>
            <a:r>
              <a:rPr sz="1600" b="0" i="0" u="none">
                <a:solidFill>
                  <a:srgbClr val="1A1A1A"/>
                </a:solidFill>
              </a:rPr>
              <a:t>, FastMCP bootstrap)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0" i="0" u="none">
                <a:solidFill>
                  <a:srgbClr val="1A1A1A"/>
                </a:solidFill>
              </a:rPr>
              <a:t>HTTP/HTML helpers, retry behavior, error normalization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requirements.mcp.txt</a:t>
            </a:r>
            <a:r>
              <a:rPr sz="1600" b="0" i="0" u="none">
                <a:solidFill>
                  <a:srgbClr val="1A1A1A"/>
                </a:solidFill>
              </a:rPr>
              <a:t> (one heavy install: docling, faster-whisper, tiktoken)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24911"/>
            <a:ext cx="11094415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One build, many entrypoints — only the </a:t>
            </a:r>
            <a:r>
              <a:rPr sz="1800" b="0" i="0" u="none">
                <a:solidFill>
                  <a:srgbClr val="1A1A1A"/>
                </a:solidFill>
                <a:latin typeface="Consolas"/>
              </a:rPr>
              <a:t>command:</a:t>
            </a:r>
            <a:r>
              <a:rPr sz="1800" b="0" i="0" u="none">
                <a:solidFill>
                  <a:srgbClr val="1A1A1A"/>
                </a:solidFill>
              </a:rPr>
              <a:t> differs in compose. Cuts cold-build time and keeps tool semantics consistent across servers.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 b="0" i="0" u="none">
                <a:solidFill>
                  <a:srgbClr val="555555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 u="none">
                <a:solidFill>
                  <a:srgbClr val="1A1A1A"/>
                </a:solidFill>
              </a:rPr>
              <a:t>The apps layer — 23 use cases, six shapes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640080" cy="36576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43000"/>
          <a:ext cx="11094415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212"/>
                <a:gridCol w="7544203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 i="0" u="none">
                          <a:solidFill>
                            <a:srgbClr val="1A1A1A"/>
                          </a:solidFill>
                        </a:rPr>
                        <a:t>Shape</a:t>
                      </a:r>
                    </a:p>
                  </a:txBody>
                  <a:tcPr marL="73152" marR="73152" marT="36576" marB="36576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 u="none">
                          <a:solidFill>
                            <a:srgbClr val="1A1A1A"/>
                          </a:solidFill>
                        </a:rPr>
                        <a:t>Examples</a:t>
                      </a:r>
                    </a:p>
                  </a:txBody>
                  <a:tcPr marL="73152" marR="73152" marT="36576" marB="36576">
                    <a:solidFill>
                      <a:srgbClr val="E8EE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Pure MCP, single server, single 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  <a:latin typeface="Consolas"/>
                        </a:rPr>
                        <a:t>/ask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  <a:latin typeface="Consolas"/>
                        </a:rPr>
                        <a:t>web_researcher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, 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  <a:latin typeface="Consolas"/>
                        </a:rPr>
                        <a:t>paper_scout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, 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  <a:latin typeface="Consolas"/>
                        </a:rPr>
                        <a:t>code_reviewer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Pure MCP, multiple servers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  <a:latin typeface="Consolas"/>
                        </a:rPr>
                        <a:t>travel_planner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, 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  <a:latin typeface="Consolas"/>
                        </a:rPr>
                        <a:t>hiking_research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MCP + inline session state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  <a:latin typeface="Consolas"/>
                        </a:rPr>
                        <a:t>movie_recommender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, 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  <a:latin typeface="Consolas"/>
                        </a:rPr>
                        <a:t>voice_journal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MCP + heavy app-specific logic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  <a:latin typeface="Consolas"/>
                        </a:rPr>
                        <a:t>ibm_cloud_advisor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, 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  <a:latin typeface="Consolas"/>
                        </a:rPr>
                        <a:t>box_qa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No MCP — purely app-state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  <a:latin typeface="Consolas"/>
                        </a:rPr>
                        <a:t>smart_todo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, 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  <a:latin typeface="Consolas"/>
                        </a:rPr>
                        <a:t>api_doc_gen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Event-driven (cron / file watcher / polling)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  <a:latin typeface="Consolas"/>
                        </a:rPr>
                        <a:t>newsletter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, 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  <a:latin typeface="Consolas"/>
                        </a:rPr>
                        <a:t>drop_summarizer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, 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  <a:latin typeface="Consolas"/>
                        </a:rPr>
                        <a:t>stock_alert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968496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Every app is a </a:t>
            </a:r>
            <a:r>
              <a:rPr sz="1800" b="0" i="0" u="none">
                <a:solidFill>
                  <a:srgbClr val="1A1A1A"/>
                </a:solidFill>
                <a:latin typeface="Consolas"/>
              </a:rPr>
              <a:t>CugaAgent</a:t>
            </a:r>
            <a:r>
              <a:rPr sz="1800" b="0" i="0" u="none">
                <a:solidFill>
                  <a:srgbClr val="1A1A1A"/>
                </a:solidFill>
              </a:rPr>
              <a:t> + </a:t>
            </a:r>
            <a:r>
              <a:rPr sz="1800" b="0" i="0" u="none">
                <a:solidFill>
                  <a:srgbClr val="1A1A1A"/>
                </a:solidFill>
                <a:latin typeface="Consolas"/>
              </a:rPr>
              <a:t>tools=…</a:t>
            </a:r>
            <a:r>
              <a:rPr sz="1800" b="0" i="0" u="none">
                <a:solidFill>
                  <a:srgbClr val="1A1A1A"/>
                </a:solidFill>
              </a:rPr>
              <a:t> + </a:t>
            </a:r>
            <a:r>
              <a:rPr sz="1800" b="0" i="0" u="none">
                <a:solidFill>
                  <a:srgbClr val="1A1A1A"/>
                </a:solidFill>
                <a:latin typeface="Consolas"/>
              </a:rPr>
              <a:t>special_instructions=…</a:t>
            </a:r>
            <a:r>
              <a:rPr sz="1800" b="0" i="0" u="none">
                <a:solidFill>
                  <a:srgbClr val="1A1A1A"/>
                </a:solidFill>
              </a:rPr>
              <a:t> wrapped in a FastAPI process.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 b="0" i="0" u="none">
                <a:solidFill>
                  <a:srgbClr val="555555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 u="none">
                <a:solidFill>
                  <a:srgbClr val="1A1A1A"/>
                </a:solidFill>
              </a:rPr>
              <a:t>How an app actually wires CUGA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640080" cy="36576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94415" cy="2642616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820095" cy="2459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from cuga import CugaAgent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from _llm        import create_llm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from _mcp_bridge import load_tools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def make_agent():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return CugaAgent(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model = create_llm(provider=os.getenv("LLM_PROVIDER"),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                   model=os.getenv("LLM_MODEL")),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tools = load_tools(["knowledge", "web"]),   # ← MCP bridge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special_instructions = _SYSTEM,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cuga_folder = str(_DIR / ".cuga"),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95344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Three things CUGA itself does </a:t>
            </a:r>
            <a:r>
              <a:rPr sz="1800" b="1" i="0" u="none">
                <a:solidFill>
                  <a:srgbClr val="1A1A1A"/>
                </a:solidFill>
              </a:rPr>
              <a:t>not</a:t>
            </a:r>
            <a:r>
              <a:rPr sz="1800" b="0" i="0" u="none">
                <a:solidFill>
                  <a:srgbClr val="1A1A1A"/>
                </a:solidFill>
              </a:rPr>
              <a:t> ship that we had to fill in: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07407"/>
            <a:ext cx="11094415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0" i="0" u="none">
                <a:solidFill>
                  <a:srgbClr val="1A1A1A"/>
                </a:solidFill>
              </a:rPr>
              <a:t>The </a:t>
            </a:r>
            <a:r>
              <a:rPr sz="1600" b="1" i="0" u="none">
                <a:solidFill>
                  <a:srgbClr val="1A1A1A"/>
                </a:solidFill>
              </a:rPr>
              <a:t>LLM factory</a:t>
            </a:r>
            <a:r>
              <a:rPr sz="1600" b="0" i="0" u="none">
                <a:solidFill>
                  <a:srgbClr val="1A1A1A"/>
                </a:solidFill>
              </a:rPr>
              <a:t> (multi-provider, env-driven)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0" i="0" u="none">
                <a:solidFill>
                  <a:srgbClr val="1A1A1A"/>
                </a:solidFill>
              </a:rPr>
              <a:t>The </a:t>
            </a:r>
            <a:r>
              <a:rPr sz="1600" b="1" i="0" u="none">
                <a:solidFill>
                  <a:srgbClr val="1A1A1A"/>
                </a:solidFill>
              </a:rPr>
              <a:t>MCP↔LangChain bridge</a:t>
            </a:r>
            <a:r>
              <a:rPr sz="1600" b="0" i="0" u="none">
                <a:solidFill>
                  <a:srgbClr val="1A1A1A"/>
                </a:solidFill>
              </a:rPr>
              <a:t> (CUGA only consumes LangChain tools)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0" i="0" u="none">
                <a:solidFill>
                  <a:srgbClr val="1A1A1A"/>
                </a:solidFill>
              </a:rPr>
              <a:t>The </a:t>
            </a:r>
            <a:r>
              <a:rPr sz="1600" b="1" i="0" u="none">
                <a:solidFill>
                  <a:srgbClr val="1A1A1A"/>
                </a:solidFill>
              </a:rPr>
              <a:t>HTTP surface</a:t>
            </a:r>
            <a:r>
              <a:rPr sz="1600" b="0" i="0" u="none">
                <a:solidFill>
                  <a:srgbClr val="1A1A1A"/>
                </a:solidFill>
              </a:rPr>
              <a:t> (CUGA is a library; FastAPI is ours)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 b="0" i="0" u="none">
                <a:solidFill>
                  <a:srgbClr val="555555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 u="none">
                <a:solidFill>
                  <a:srgbClr val="1A1A1A"/>
                </a:solidFill>
              </a:rPr>
              <a:t>The bridge — LangChain ↔ MCP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640080" cy="36576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  <a:latin typeface="Consolas"/>
              </a:rPr>
              <a:t>apps/_mcp_bridge.py</a:t>
            </a:r>
            <a:r>
              <a:rPr sz="1800" b="0" i="0" u="none">
                <a:solidFill>
                  <a:srgbClr val="1A1A1A"/>
                </a:solidFill>
              </a:rPr>
              <a:t> does one thing well: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55063"/>
            <a:ext cx="11094415" cy="224028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46503"/>
            <a:ext cx="10820095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load_tools(["web", "knowledge"])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▼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resolve URLs from MCP_&lt;NAME&gt;_URL or default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▼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MultiServerMCPClient(streamable_http)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▼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list[StructuredTool]   ← what CugaAgent expects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05071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Plus </a:t>
            </a:r>
            <a:r>
              <a:rPr sz="1800" b="0" i="0" u="none">
                <a:solidFill>
                  <a:srgbClr val="1A1A1A"/>
                </a:solidFill>
                <a:latin typeface="Consolas"/>
              </a:rPr>
              <a:t>call_tool(server, tool, args)</a:t>
            </a:r>
            <a:r>
              <a:rPr sz="1800" b="0" i="0" u="none">
                <a:solidFill>
                  <a:srgbClr val="1A1A1A"/>
                </a:solidFill>
              </a:rPr>
              <a:t> for non-LLM code paths (cron jobs, file watchers).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17134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1A1A1A"/>
                </a:solidFill>
              </a:rPr>
              <a:t>This bridge is pure glue.</a:t>
            </a:r>
            <a:r>
              <a:rPr sz="1800" b="0" i="0" u="none">
                <a:solidFill>
                  <a:srgbClr val="1A1A1A"/>
                </a:solidFill>
              </a:rPr>
              <a:t> It exists because CUGA doesn't speak MCP natively. Every CUGA-based project will end up writing this.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 b="0" i="0" u="none">
                <a:solidFill>
                  <a:srgbClr val="555555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 u="none">
                <a:solidFill>
                  <a:srgbClr val="1A1A1A"/>
                </a:solidFill>
              </a:rPr>
              <a:t>Building a new CUGA app — the 9-step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640080" cy="36576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From </a:t>
            </a:r>
            <a:r>
              <a:rPr sz="1800" b="0" i="0" u="sng">
                <a:solidFill>
                  <a:srgbClr val="0B5FFF"/>
                </a:solidFill>
              </a:rPr>
              <a:t>docs/ADDING_AN_APP.md</a:t>
            </a:r>
            <a:r>
              <a:rPr sz="1800" b="0" i="0" u="none">
                <a:solidFill>
                  <a:srgbClr val="1A1A1A"/>
                </a:solidFill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55063"/>
            <a:ext cx="11094415" cy="3511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☐ </a:t>
            </a:r>
            <a:r>
              <a:rPr sz="1600" b="0" i="0" u="none">
                <a:solidFill>
                  <a:srgbClr val="1A1A1A"/>
                </a:solidFill>
              </a:rPr>
              <a:t>port allocated in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apps/_ports.py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☐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apps/&lt;name&gt;/main.py</a:t>
            </a:r>
            <a:r>
              <a:rPr sz="1600" b="0" i="0" u="none">
                <a:solidFill>
                  <a:srgbClr val="1A1A1A"/>
                </a:solidFill>
              </a:rPr>
              <a:t> written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☐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apps/&lt;name&gt;/README.md</a:t>
            </a:r>
            <a:r>
              <a:rPr sz="1600" b="0" i="0" u="none">
                <a:solidFill>
                  <a:srgbClr val="1A1A1A"/>
                </a:solidFill>
              </a:rPr>
              <a:t> with the MCP-usage block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☐ </a:t>
            </a:r>
            <a:r>
              <a:rPr sz="1600" b="0" i="0" u="none">
                <a:solidFill>
                  <a:srgbClr val="1A1A1A"/>
                </a:solidFill>
              </a:rPr>
              <a:t>entry in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apps/launch.py</a:t>
            </a:r>
            <a:r>
              <a:rPr sz="1600" b="0" i="0" u="none">
                <a:solidFill>
                  <a:srgbClr val="1A1A1A"/>
                </a:solidFill>
              </a:rPr>
              <a:t>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PROCS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☐ </a:t>
            </a:r>
            <a:r>
              <a:rPr sz="1600" b="0" i="0" u="none">
                <a:solidFill>
                  <a:srgbClr val="1A1A1A"/>
                </a:solidFill>
              </a:rPr>
              <a:t>line in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start.sh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☐ </a:t>
            </a:r>
            <a:r>
              <a:rPr sz="1600" b="0" i="0" u="none">
                <a:solidFill>
                  <a:srgbClr val="1A1A1A"/>
                </a:solidFill>
              </a:rPr>
              <a:t>port mapping in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docker-compose.yml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☐ </a:t>
            </a:r>
            <a:r>
              <a:rPr sz="1600" b="0" i="0" u="none">
                <a:solidFill>
                  <a:srgbClr val="1A1A1A"/>
                </a:solidFill>
              </a:rPr>
              <a:t>env vars added to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apps/.env.example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☐ </a:t>
            </a:r>
            <a:r>
              <a:rPr sz="1600" b="0" i="0" u="none">
                <a:solidFill>
                  <a:srgbClr val="1A1A1A"/>
                </a:solidFill>
              </a:rPr>
              <a:t>entry in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ui/src/data/usecases.ts</a:t>
            </a:r>
            <a:r>
              <a:rPr sz="1600" b="0" i="0" u="none">
                <a:solidFill>
                  <a:srgbClr val="1A1A1A"/>
                </a:solidFill>
              </a:rPr>
              <a:t> with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mcpUsage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☐ </a:t>
            </a:r>
            <a:r>
              <a:rPr sz="1600" b="0" i="0" u="none">
                <a:solidFill>
                  <a:srgbClr val="1A1A1A"/>
                </a:solidFill>
              </a:rPr>
              <a:t>wiring test entries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☐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docker compose build apps ui &amp;&amp; docker compose up -d apps ui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☐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make test</a:t>
            </a:r>
            <a:r>
              <a:rPr sz="1600" b="0" i="0" u="none">
                <a:solidFill>
                  <a:srgbClr val="1A1A1A"/>
                </a:solidFill>
              </a:rPr>
              <a:t> passes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79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1A1A1A"/>
                </a:solidFill>
              </a:rPr>
              <a:t>8–9 files touched</a:t>
            </a:r>
            <a:r>
              <a:rPr sz="1800" b="0" i="0" u="none">
                <a:solidFill>
                  <a:srgbClr val="1A1A1A"/>
                </a:solidFill>
              </a:rPr>
              <a:t> per new app. Mostly bookkeeping.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 b="0" i="0" u="none">
                <a:solidFill>
                  <a:srgbClr val="555555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 u="none">
                <a:solidFill>
                  <a:srgbClr val="1A1A1A"/>
                </a:solidFill>
              </a:rPr>
              <a:t>What's hard isn't the agent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640080" cy="36576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The agent code is small — </a:t>
            </a:r>
            <a:r>
              <a:rPr sz="1800" b="1" i="0" u="none">
                <a:solidFill>
                  <a:srgbClr val="1A1A1A"/>
                </a:solidFill>
              </a:rPr>
              <a:t>~30 lines of "real" CUGA wiring</a:t>
            </a:r>
            <a:r>
              <a:rPr sz="1800" b="0" i="0" u="none">
                <a:solidFill>
                  <a:srgbClr val="1A1A1A"/>
                </a:solidFill>
              </a:rPr>
              <a:t>. The other 90% of the work is registry plumbing across files that don't talk to each other: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84248"/>
            <a:ext cx="11094415" cy="1435608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75688"/>
            <a:ext cx="10820095" cy="1252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apps/_ports.py            ←  Python registry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docker-compose.yml        ←  static YAML port mapping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ui/src/data/usecases.ts   ←  TypeScript registry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start.sh                  ←  shell loop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launch.py                 ←  Python process supervisor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tests/test_app_wiring.py  ←  pytest registry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9584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1A1A1A"/>
                </a:solidFill>
              </a:rPr>
              <a:t>Three different registries of the same set of apps</a:t>
            </a:r>
            <a:r>
              <a:rPr sz="1800" b="0" i="0" u="none">
                <a:solidFill>
                  <a:srgbClr val="1A1A1A"/>
                </a:solidFill>
              </a:rPr>
              <a:t>, none aware of each other. That's the cost CUGA doesn't help with.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 b="0" i="0" u="none">
                <a:solidFill>
                  <a:srgbClr val="555555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 u="none">
                <a:solidFill>
                  <a:srgbClr val="1A1A1A"/>
                </a:solidFill>
              </a:rPr>
              <a:t>Adding a new MCP tool — easier, but still 4 places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640080" cy="36576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Per </a:t>
            </a:r>
            <a:r>
              <a:rPr sz="1800" b="0" i="0" u="sng">
                <a:solidFill>
                  <a:srgbClr val="0B5FFF"/>
                </a:solidFill>
              </a:rPr>
              <a:t>docs/ADDING_A_TOOL.md</a:t>
            </a:r>
            <a:r>
              <a:rPr sz="1800" b="0" i="0" u="none">
                <a:solidFill>
                  <a:srgbClr val="1A1A1A"/>
                </a:solidFill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55063"/>
            <a:ext cx="11094415" cy="1335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@mcp.tool()</a:t>
            </a:r>
            <a:r>
              <a:rPr sz="1600" b="0" i="0" u="none">
                <a:solidFill>
                  <a:srgbClr val="1A1A1A"/>
                </a:solidFill>
              </a:rPr>
              <a:t>-decorate a function in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mcp_servers/&lt;server&gt;/server.py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docker compose build mcp-&lt;server&gt; &amp;&amp; up -d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docker compose restart apps</a:t>
            </a:r>
            <a:r>
              <a:rPr sz="1600" b="0" i="0" u="none">
                <a:solidFill>
                  <a:srgbClr val="1A1A1A"/>
                </a:solidFill>
              </a:rPr>
              <a:t>  ← bridge caches tool list at startup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0" i="0" u="none">
                <a:solidFill>
                  <a:srgbClr val="1A1A1A"/>
                </a:solidFill>
              </a:rPr>
              <a:t>Test entry in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tests/test_mcp_tools.py::TestMcp&lt;Server&gt;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35807"/>
            <a:ext cx="11094415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1A1A1A"/>
                </a:solidFill>
              </a:rPr>
              <a:t>Adding a whole new MCP server</a:t>
            </a:r>
            <a:r>
              <a:rPr sz="1800" b="0" i="0" u="none">
                <a:solidFill>
                  <a:srgbClr val="1A1A1A"/>
                </a:solidFill>
              </a:rPr>
              <a:t> is heavier: 6+ files (</a:t>
            </a:r>
            <a:r>
              <a:rPr sz="1800" b="0" i="0" u="none">
                <a:solidFill>
                  <a:srgbClr val="1A1A1A"/>
                </a:solidFill>
                <a:latin typeface="Consolas"/>
              </a:rPr>
              <a:t>_ports.py</a:t>
            </a:r>
            <a:r>
              <a:rPr sz="1800" b="0" i="0" u="none">
                <a:solidFill>
                  <a:srgbClr val="1A1A1A"/>
                </a:solidFill>
              </a:rPr>
              <a:t>, requirements, Dockerfile, compose service block, launcher, docs).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 b="0" i="0" u="none">
                <a:solidFill>
                  <a:srgbClr val="555555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 u="none">
                <a:solidFill>
                  <a:srgbClr val="1A1A1A"/>
                </a:solidFill>
              </a:rPr>
              <a:t>Gaps in CUGA — the explicit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640080" cy="36576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43000"/>
          <a:ext cx="1109441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441"/>
                <a:gridCol w="4992486"/>
                <a:gridCol w="499248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 i="0" u="none">
                          <a:solidFill>
                            <a:srgbClr val="1A1A1A"/>
                          </a:solidFill>
                        </a:rPr>
                        <a:t>#</a:t>
                      </a:r>
                    </a:p>
                  </a:txBody>
                  <a:tcPr marL="73152" marR="73152" marT="36576" marB="36576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 u="none">
                          <a:solidFill>
                            <a:srgbClr val="1A1A1A"/>
                          </a:solidFill>
                        </a:rPr>
                        <a:t>Gap</a:t>
                      </a:r>
                    </a:p>
                  </a:txBody>
                  <a:tcPr marL="73152" marR="73152" marT="36576" marB="36576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 u="none">
                          <a:solidFill>
                            <a:srgbClr val="1A1A1A"/>
                          </a:solidFill>
                        </a:rPr>
                        <a:t>What we did</a:t>
                      </a:r>
                    </a:p>
                  </a:txBody>
                  <a:tcPr marL="73152" marR="73152" marT="36576" marB="36576">
                    <a:solidFill>
                      <a:srgbClr val="E8EE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 u="none">
                          <a:solidFill>
                            <a:srgbClr val="1A1A1A"/>
                          </a:solidFill>
                        </a:rPr>
                        <a:t>No MCP support natively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 — only LangChain tools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Wrote 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  <a:latin typeface="Consolas"/>
                        </a:rPr>
                        <a:t>_mcp_bridge.py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 u="none">
                          <a:solidFill>
                            <a:srgbClr val="1A1A1A"/>
                          </a:solidFill>
                        </a:rPr>
                        <a:t>No multi-provider LLM factory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Wrote 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  <a:latin typeface="Consolas"/>
                        </a:rPr>
                        <a:t>_llm.py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 (6 providers)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 u="none">
                          <a:solidFill>
                            <a:srgbClr val="1A1A1A"/>
                          </a:solidFill>
                        </a:rPr>
                        <a:t>No HTTP surface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 — agent is library-only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FastAPI shell per app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 u="none">
                          <a:solidFill>
                            <a:srgbClr val="1A1A1A"/>
                          </a:solidFill>
                        </a:rPr>
                        <a:t>No declarative app definition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 — identity is scattered across files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Hand-maintained 3 registries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 u="none">
                          <a:solidFill>
                            <a:srgbClr val="1A1A1A"/>
                          </a:solidFill>
                        </a:rPr>
                        <a:t>No hot tool reload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 — bridge caches at startup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Restart container to pick up new tools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 u="none">
                          <a:solidFill>
                            <a:srgbClr val="1A1A1A"/>
                          </a:solidFill>
                        </a:rPr>
                        <a:t>No streaming / step-trace exposure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 in 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  <a:latin typeface="Consolas"/>
                        </a:rPr>
                        <a:t>agent.invoke()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Single-shot 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  <a:latin typeface="Consolas"/>
                        </a:rPr>
                        <a:t>/ask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 returns final answer only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 u="none">
                          <a:solidFill>
                            <a:srgbClr val="1A1A1A"/>
                          </a:solidFill>
                        </a:rPr>
                        <a:t>No multi-tenancy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 — one 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  <a:latin typeface="Consolas"/>
                        </a:rPr>
                        <a:t>CugaAgent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 per app process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23 processes in one container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 u="none">
                          <a:solidFill>
                            <a:srgbClr val="1A1A1A"/>
                          </a:solidFill>
                        </a:rPr>
                        <a:t>No native gap detection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 — agent can't say "I'd need a tool for X"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Solved separately in chief_of_staff (out of scope here)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 u="none">
                          <a:solidFill>
                            <a:srgbClr val="1A1A1A"/>
                          </a:solidFill>
                        </a:rPr>
                        <a:t>No discovery surface</a:t>
                      </a:r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 — agent doesn't expose its tool list at runtime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 u="none">
                          <a:solidFill>
                            <a:srgbClr val="1A1A1A"/>
                          </a:solidFill>
                        </a:rPr>
                        <a:t>Each app must self-document via README + usecases.ts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 b="0" i="0" u="none">
                <a:solidFill>
                  <a:srgbClr val="555555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 u="none">
                <a:solidFill>
                  <a:srgbClr val="1A1A1A"/>
                </a:solidFill>
              </a:rPr>
              <a:t>Gap #1 spotlight — MCP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640080" cy="36576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CUGA expects </a:t>
            </a:r>
            <a:r>
              <a:rPr sz="1800" b="0" i="0" u="none">
                <a:solidFill>
                  <a:srgbClr val="1A1A1A"/>
                </a:solidFill>
                <a:latin typeface="Consolas"/>
              </a:rPr>
              <a:t>tools: list[StructuredTool]</a:t>
            </a:r>
            <a:r>
              <a:rPr sz="1800" b="0" i="0" u="none">
                <a:solidFill>
                  <a:srgbClr val="1A1A1A"/>
                </a:solidFill>
              </a:rPr>
              <a:t>. MCP speaks streamable HTTP and returns </a:t>
            </a:r>
            <a:r>
              <a:rPr sz="1800" b="0" i="0" u="none">
                <a:solidFill>
                  <a:srgbClr val="1A1A1A"/>
                </a:solidFill>
                <a:latin typeface="Consolas"/>
              </a:rPr>
              <a:t>{ok, data}</a:t>
            </a:r>
            <a:r>
              <a:rPr sz="1800" b="0" i="0" u="none">
                <a:solidFill>
                  <a:srgbClr val="1A1A1A"/>
                </a:solidFill>
              </a:rPr>
              <a:t> envelopes.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55063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Without the bridge, every app would have to: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67126"/>
            <a:ext cx="11094415" cy="1335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0" i="0" u="none">
                <a:solidFill>
                  <a:srgbClr val="1A1A1A"/>
                </a:solidFill>
              </a:rPr>
              <a:t>Open an MCP session per server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0" i="0" u="none">
                <a:solidFill>
                  <a:srgbClr val="1A1A1A"/>
                </a:solidFill>
              </a:rPr>
              <a:t>Translate MCP tool schemas → LangChain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StructuredTool</a:t>
            </a:r>
            <a:r>
              <a:rPr sz="1600" b="0" i="0" u="none">
                <a:solidFill>
                  <a:srgbClr val="1A1A1A"/>
                </a:solidFill>
              </a:rPr>
              <a:t> schemas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0" i="0" u="none">
                <a:solidFill>
                  <a:srgbClr val="1A1A1A"/>
                </a:solidFill>
              </a:rPr>
              <a:t>Unwrap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{ok, data}</a:t>
            </a:r>
            <a:r>
              <a:rPr sz="1600" b="0" i="0" u="none">
                <a:solidFill>
                  <a:srgbClr val="1A1A1A"/>
                </a:solidFill>
              </a:rPr>
              <a:t> /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{ok: false, error}</a:t>
            </a:r>
            <a:r>
              <a:rPr sz="1600" b="0" i="0" u="none">
                <a:solidFill>
                  <a:srgbClr val="1A1A1A"/>
                </a:solidFill>
              </a:rPr>
              <a:t> envelopes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0" i="0" u="none">
                <a:solidFill>
                  <a:srgbClr val="1A1A1A"/>
                </a:solidFill>
              </a:rPr>
              <a:t>Manage event loop reentrancy (sync code calling async MCP)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47870"/>
            <a:ext cx="11094415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  <a:latin typeface="Consolas"/>
              </a:rPr>
              <a:t>_mcp_bridge.py</a:t>
            </a:r>
            <a:r>
              <a:rPr sz="1800" b="0" i="0" u="none">
                <a:solidFill>
                  <a:srgbClr val="1A1A1A"/>
                </a:solidFill>
              </a:rPr>
              <a:t> does this in 152 lines. Multiply that across every CUGA project that wants to use MCP. </a:t>
            </a:r>
            <a:r>
              <a:rPr sz="1800" b="1" i="0" u="none">
                <a:solidFill>
                  <a:srgbClr val="1A1A1A"/>
                </a:solidFill>
              </a:rPr>
              <a:t>This belongs upstream in CUGA.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 b="0" i="0" u="none">
                <a:solidFill>
                  <a:srgbClr val="555555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 u="none">
                <a:solidFill>
                  <a:srgbClr val="1A1A1A"/>
                </a:solidFill>
              </a:rPr>
              <a:t>Gap #4 spotlight — registry sprawl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640080" cy="36576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To answer the question </a:t>
            </a:r>
            <a:r>
              <a:rPr sz="1800" b="0" i="1" u="none">
                <a:solidFill>
                  <a:srgbClr val="1A1A1A"/>
                </a:solidFill>
              </a:rPr>
              <a:t>"what apps does this deployment have?"</a:t>
            </a:r>
            <a:r>
              <a:rPr sz="1800" b="0" i="0" u="none">
                <a:solidFill>
                  <a:srgbClr val="1A1A1A"/>
                </a:solidFill>
              </a:rPr>
              <a:t> you need to read </a:t>
            </a:r>
            <a:r>
              <a:rPr sz="1800" b="1" i="0" u="none">
                <a:solidFill>
                  <a:srgbClr val="1A1A1A"/>
                </a:solidFill>
              </a:rPr>
              <a:t>three</a:t>
            </a:r>
            <a:r>
              <a:rPr sz="1800" b="0" i="0" u="none">
                <a:solidFill>
                  <a:srgbClr val="1A1A1A"/>
                </a:solidFill>
              </a:rPr>
              <a:t> files: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55063"/>
            <a:ext cx="11094415" cy="832104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46503"/>
            <a:ext cx="10820095" cy="649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apps/_ports.py              # Python truth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docker-compose.yml          # static 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ui/src/data/usecases.ts     # TypeScript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96895"/>
            <a:ext cx="11094415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None can be derived from another. They drift. We catch some drift via </a:t>
            </a:r>
            <a:r>
              <a:rPr sz="1800" b="0" i="0" u="none">
                <a:solidFill>
                  <a:srgbClr val="1A1A1A"/>
                </a:solidFill>
                <a:latin typeface="Consolas"/>
              </a:rPr>
              <a:t>tests/test_smoke.py</a:t>
            </a:r>
            <a:r>
              <a:rPr sz="1800" b="0" i="0" u="none">
                <a:solidFill>
                  <a:srgbClr val="1A1A1A"/>
                </a:solidFill>
              </a:rPr>
              <a:t> (compares against </a:t>
            </a:r>
            <a:r>
              <a:rPr sz="1800" b="0" i="0" u="none">
                <a:solidFill>
                  <a:srgbClr val="1A1A1A"/>
                </a:solidFill>
                <a:latin typeface="Consolas"/>
              </a:rPr>
              <a:t>set(MCP_PORTS)</a:t>
            </a:r>
            <a:r>
              <a:rPr sz="1800" b="0" i="0" u="none">
                <a:solidFill>
                  <a:srgbClr val="1A1A1A"/>
                </a:solidFill>
              </a:rPr>
              <a:t>) but most drift is invisible until a tile 404s in the UI.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38143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1A1A1A"/>
                </a:solidFill>
              </a:rPr>
              <a:t>A declarative app manifest</a:t>
            </a:r>
            <a:r>
              <a:rPr sz="1800" b="0" i="0" u="none">
                <a:solidFill>
                  <a:srgbClr val="1A1A1A"/>
                </a:solidFill>
              </a:rPr>
              <a:t> (one YAML per app, registries auto-derived) would erase ~40% of the new-app friction.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 b="0" i="0" u="none">
                <a:solidFill>
                  <a:srgbClr val="555555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 u="none">
                <a:solidFill>
                  <a:srgbClr val="1A1A1A"/>
                </a:solidFill>
              </a:rPr>
              <a:t>Gap #5 spotlight — hot tool reload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640080" cy="36576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Today: add a tool → </a:t>
            </a:r>
            <a:r>
              <a:rPr sz="1800" b="0" i="0" u="none">
                <a:solidFill>
                  <a:srgbClr val="1A1A1A"/>
                </a:solidFill>
                <a:latin typeface="Consolas"/>
              </a:rPr>
              <a:t>docker compose restart apps</a:t>
            </a:r>
            <a:r>
              <a:rPr sz="1800" b="0" i="0" u="none">
                <a:solidFill>
                  <a:srgbClr val="1A1A1A"/>
                </a:solidFill>
              </a:rPr>
              <a:t> → wait 30s → tool now 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55063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Why? </a:t>
            </a:r>
            <a:r>
              <a:rPr sz="1800" b="0" i="0" u="none">
                <a:solidFill>
                  <a:srgbClr val="1A1A1A"/>
                </a:solidFill>
                <a:latin typeface="Consolas"/>
              </a:rPr>
              <a:t>_mcp_bridge.load_tools()</a:t>
            </a:r>
            <a:r>
              <a:rPr sz="1800" b="0" i="0" u="none">
                <a:solidFill>
                  <a:srgbClr val="1A1A1A"/>
                </a:solidFill>
              </a:rPr>
              <a:t> is called once during </a:t>
            </a:r>
            <a:r>
              <a:rPr sz="1800" b="0" i="0" u="none">
                <a:solidFill>
                  <a:srgbClr val="1A1A1A"/>
                </a:solidFill>
                <a:latin typeface="Consolas"/>
              </a:rPr>
              <a:t>make_agent()</a:t>
            </a:r>
            <a:r>
              <a:rPr sz="1800" b="0" i="0" u="none">
                <a:solidFill>
                  <a:srgbClr val="1A1A1A"/>
                </a:solidFill>
              </a:rPr>
              <a:t>. The MCP client doesn't subscribe to </a:t>
            </a:r>
            <a:r>
              <a:rPr sz="1800" b="0" i="0" u="none">
                <a:solidFill>
                  <a:srgbClr val="1A1A1A"/>
                </a:solidFill>
                <a:latin typeface="Consolas"/>
              </a:rPr>
              <a:t>tools/list_changed</a:t>
            </a:r>
            <a:r>
              <a:rPr sz="1800" b="0" i="0" u="none">
                <a:solidFill>
                  <a:srgbClr val="1A1A1A"/>
                </a:solidFill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67126"/>
            <a:ext cx="11094415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Fixing this would take CUGA exposing a </a:t>
            </a:r>
            <a:r>
              <a:rPr sz="1800" b="0" i="0" u="none">
                <a:solidFill>
                  <a:srgbClr val="1A1A1A"/>
                </a:solidFill>
                <a:latin typeface="Consolas"/>
              </a:rPr>
              <a:t>agent.reload_tools()</a:t>
            </a:r>
            <a:r>
              <a:rPr sz="1800" b="0" i="0" u="none">
                <a:solidFill>
                  <a:srgbClr val="1A1A1A"/>
                </a:solidFill>
              </a:rPr>
              <a:t> (chief_of_staff has a downstream version of this — </a:t>
            </a:r>
            <a:r>
              <a:rPr sz="1800" b="0" i="0" u="none">
                <a:solidFill>
                  <a:srgbClr val="1A1A1A"/>
                </a:solidFill>
                <a:latin typeface="Consolas"/>
              </a:rPr>
              <a:t>/agent/reload</a:t>
            </a:r>
            <a:r>
              <a:rPr sz="1800" b="0" i="0" u="none">
                <a:solidFill>
                  <a:srgbClr val="1A1A1A"/>
                </a:solidFill>
              </a:rPr>
              <a:t> — but it's not in CUGA itself).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 b="0" i="0" u="none">
                <a:solidFill>
                  <a:srgbClr val="555555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 u="none">
                <a:solidFill>
                  <a:srgbClr val="1A1A1A"/>
                </a:solidFill>
              </a:rPr>
              <a:t>What we built around CUGA's edges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640080" cy="36576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94415" cy="5458968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820095" cy="5276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│                       cuga-apps           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│                                           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│  ┌──────────┐   ┌──────────────┐   ┌──────────────────┐ 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│  │ _llm.py  │   │ _mcp_bridge  │   │ _ports.py        │ 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│  │ multi-   │   │ LC↔MCP       │   │ single registry  │ 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│  │ provider │   │ glue         │   │                  │ 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│  └──────────┘   └──────────────┘   └──────────────────┘ 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│                                           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│  ┌─────────────────┐   ┌─────────────────┐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│  │ umbrella UI     │   │ tool explorer   │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│  │ (discovery)     │   │ (per-tool form) │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│  └─────────────────┘   └─────────────────┘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│                                           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│  ┌─────────────────────────────────────────────────────┐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│  │  test harness — smoke / mcp / wiring / llm tiers    │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│  └─────────────────────────────────────────────────────┘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│                                           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                    ▲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                    │ depends 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                    ▼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        ┌────────────────────┐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        │       cuga      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        │  (planner only)    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                └────────────────────┘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 b="0" i="0" u="none">
                <a:solidFill>
                  <a:srgbClr val="555555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 u="none">
                <a:solidFill>
                  <a:srgbClr val="1A1A1A"/>
                </a:solidFill>
              </a:rPr>
              <a:t>Test harness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640080" cy="36576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94415" cy="123444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820095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make test         # default: smoke + mcp + wiring (~13s, no LLM cost)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make test-quick   # smoke only (~5s)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make test-mcp     # MCP tool contracts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make test-wiring  # app REST routes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</a:rPr>
              <a:t>make test-llm     # opt-in LLM round-trips (slow, costs tokens)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87168"/>
            <a:ext cx="11094415" cy="1335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1" i="0" u="none">
                <a:solidFill>
                  <a:srgbClr val="1A1A1A"/>
                </a:solidFill>
              </a:rPr>
              <a:t>Smoke tier</a:t>
            </a:r>
            <a:r>
              <a:rPr sz="1600" b="0" i="0" u="none">
                <a:solidFill>
                  <a:srgbClr val="1A1A1A"/>
                </a:solidFill>
              </a:rPr>
              <a:t> parametrizes over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APP_PORTS</a:t>
            </a:r>
            <a:r>
              <a:rPr sz="1600" b="0" i="0" u="none">
                <a:solidFill>
                  <a:srgbClr val="1A1A1A"/>
                </a:solidFill>
              </a:rPr>
              <a:t> — new apps are auto-covered.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1" i="0" u="none">
                <a:solidFill>
                  <a:srgbClr val="1A1A1A"/>
                </a:solidFill>
              </a:rPr>
              <a:t>MCP tier</a:t>
            </a:r>
            <a:r>
              <a:rPr sz="1600" b="0" i="0" u="none">
                <a:solidFill>
                  <a:srgbClr val="1A1A1A"/>
                </a:solidFill>
              </a:rPr>
              <a:t> pins each tool's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{ok, data}</a:t>
            </a:r>
            <a:r>
              <a:rPr sz="1600" b="0" i="0" u="none">
                <a:solidFill>
                  <a:srgbClr val="1A1A1A"/>
                </a:solidFill>
              </a:rPr>
              <a:t> contract.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1" i="0" u="none">
                <a:solidFill>
                  <a:srgbClr val="1A1A1A"/>
                </a:solidFill>
              </a:rPr>
              <a:t>Wiring tier</a:t>
            </a:r>
            <a:r>
              <a:rPr sz="1600" b="0" i="0" u="none">
                <a:solidFill>
                  <a:srgbClr val="1A1A1A"/>
                </a:solidFill>
              </a:rPr>
              <a:t> hits non-LLM REST routes (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/health</a:t>
            </a:r>
            <a:r>
              <a:rPr sz="1600" b="0" i="0" u="none">
                <a:solidFill>
                  <a:srgbClr val="1A1A1A"/>
                </a:solidFill>
              </a:rPr>
              <a:t>,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/settings</a:t>
            </a:r>
            <a:r>
              <a:rPr sz="1600" b="0" i="0" u="none">
                <a:solidFill>
                  <a:srgbClr val="1A1A1A"/>
                </a:solidFill>
              </a:rPr>
              <a:t>, etc.).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1" i="0" u="none">
                <a:solidFill>
                  <a:srgbClr val="1A1A1A"/>
                </a:solidFill>
              </a:rPr>
              <a:t>LLM tier</a:t>
            </a:r>
            <a:r>
              <a:rPr sz="1600" b="0" i="0" u="none">
                <a:solidFill>
                  <a:srgbClr val="1A1A1A"/>
                </a:solidFill>
              </a:rPr>
              <a:t> is opt-in and proves the agent can actually call the tool.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67912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Three tiers because the cost / signal trade-off is different at each level.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 b="0" i="0" u="none">
                <a:solidFill>
                  <a:srgbClr val="555555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 u="none">
                <a:solidFill>
                  <a:srgbClr val="1A1A1A"/>
                </a:solidFill>
              </a:rPr>
              <a:t>How easy is "easy" — concretely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640080" cy="36576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Time to add a </a:t>
            </a:r>
            <a:r>
              <a:rPr sz="1800" b="1" i="0" u="none">
                <a:solidFill>
                  <a:srgbClr val="1A1A1A"/>
                </a:solidFill>
              </a:rPr>
              <a:t>new MCP tool</a:t>
            </a:r>
            <a:r>
              <a:rPr sz="1800" b="0" i="0" u="none">
                <a:solidFill>
                  <a:srgbClr val="1A1A1A"/>
                </a:solidFill>
              </a:rPr>
              <a:t> in an existing server: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55063"/>
            <a:ext cx="11094415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0" i="0" u="none">
                <a:solidFill>
                  <a:srgbClr val="1A1A1A"/>
                </a:solidFill>
              </a:rPr>
              <a:t>Code: ~10 min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0" i="0" u="none">
                <a:solidFill>
                  <a:srgbClr val="1A1A1A"/>
                </a:solidFill>
              </a:rPr>
              <a:t>Build + restart: 1–2 min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0" i="0" u="none">
                <a:solidFill>
                  <a:srgbClr val="1A1A1A"/>
                </a:solidFill>
              </a:rPr>
              <a:t>Test: 2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24911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1A1A1A"/>
                </a:solidFill>
              </a:rPr>
              <a:t>Total: ~15 minutes</a:t>
            </a:r>
            <a:r>
              <a:rPr sz="1800" b="0" i="0" u="none">
                <a:solidFill>
                  <a:srgbClr val="1A1A1A"/>
                </a:solidFill>
              </a:rPr>
              <a:t> ← actually pleasant.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36974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Time to add a </a:t>
            </a:r>
            <a:r>
              <a:rPr sz="1800" b="1" i="0" u="none">
                <a:solidFill>
                  <a:srgbClr val="1A1A1A"/>
                </a:solidFill>
              </a:rPr>
              <a:t>new CUGA app</a:t>
            </a:r>
            <a:r>
              <a:rPr sz="1800" b="0" i="0" u="none">
                <a:solidFill>
                  <a:srgbClr val="1A1A1A"/>
                </a:solidFill>
              </a:rPr>
              <a:t> (say, Recipe Finder from the docs):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7"/>
            <a:ext cx="1109441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0" i="0" u="none">
                <a:solidFill>
                  <a:srgbClr val="1A1A1A"/>
                </a:solidFill>
              </a:rPr>
              <a:t>Code (main.py + README): ~30–60 min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0" i="0" u="none">
                <a:solidFill>
                  <a:srgbClr val="1A1A1A"/>
                </a:solidFill>
              </a:rPr>
              <a:t>Registry edits across 5 files: ~15 min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0" i="0" u="none">
                <a:solidFill>
                  <a:srgbClr val="1A1A1A"/>
                </a:solidFill>
              </a:rPr>
              <a:t>UI tile: ~10 min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0" i="0" u="none">
                <a:solidFill>
                  <a:srgbClr val="1A1A1A"/>
                </a:solidFill>
              </a:rPr>
              <a:t>Tests: ~10 min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0" i="0" u="none">
                <a:solidFill>
                  <a:srgbClr val="1A1A1A"/>
                </a:solidFill>
              </a:rPr>
              <a:t>Build + iterate: ~10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40677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1A1A1A"/>
                </a:solidFill>
              </a:rPr>
              <a:t>Total: 75–105 minutes</a:t>
            </a:r>
            <a:r>
              <a:rPr sz="1800" b="0" i="0" u="none">
                <a:solidFill>
                  <a:srgbClr val="1A1A1A"/>
                </a:solidFill>
              </a:rPr>
              <a:t> ← bookkeeping dominates.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52740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1A1A1A"/>
                </a:solidFill>
              </a:rPr>
              <a:t>The agent code isn't the bottleneck. The non-CUGA scaffolding 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 b="0" i="0" u="none">
                <a:solidFill>
                  <a:srgbClr val="555555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 u="none">
                <a:solidFill>
                  <a:srgbClr val="1A1A1A"/>
                </a:solidFill>
              </a:rPr>
              <a:t>The story for upstream CUGA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640080" cy="36576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If CUGA shipped four things, this stack shrinks by ~30%: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55063"/>
            <a:ext cx="11094415" cy="1335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1" i="0" u="none">
                <a:solidFill>
                  <a:srgbClr val="1A1A1A"/>
                </a:solidFill>
              </a:rPr>
              <a:t>Native MCP support</a:t>
            </a:r>
            <a:r>
              <a:rPr sz="1600" b="0" i="0" u="none">
                <a:solidFill>
                  <a:srgbClr val="1A1A1A"/>
                </a:solidFill>
              </a:rPr>
              <a:t> → delete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_mcp_bridge.py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1" i="0" u="none">
                <a:solidFill>
                  <a:srgbClr val="1A1A1A"/>
                </a:solidFill>
              </a:rPr>
              <a:t>Multi-provider LLM factory</a:t>
            </a:r>
            <a:r>
              <a:rPr sz="1600" b="0" i="0" u="none">
                <a:solidFill>
                  <a:srgbClr val="1A1A1A"/>
                </a:solidFill>
              </a:rPr>
              <a:t> → delete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_llm.py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1" i="0" u="none">
                <a:solidFill>
                  <a:srgbClr val="1A1A1A"/>
                </a:solidFill>
              </a:rPr>
              <a:t>Declarative agent manifest</a:t>
            </a:r>
            <a:r>
              <a:rPr sz="1600" b="0" i="0" u="none">
                <a:solidFill>
                  <a:srgbClr val="1A1A1A"/>
                </a:solidFill>
              </a:rPr>
              <a:t> → collapse 3 registries → 1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1" i="0" u="none">
                <a:solidFill>
                  <a:srgbClr val="1A1A1A"/>
                </a:solidFill>
              </a:rPr>
              <a:t>Hot tool reload + runtime tool listing</a:t>
            </a:r>
            <a:r>
              <a:rPr sz="1600" b="0" i="0" u="none">
                <a:solidFill>
                  <a:srgbClr val="1A1A1A"/>
                </a:solidFill>
              </a:rPr>
              <a:t> → kill the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restart apps</a:t>
            </a:r>
            <a:r>
              <a:rPr sz="1600" b="0" i="0" u="none">
                <a:solidFill>
                  <a:srgbClr val="1A1A1A"/>
                </a:solidFill>
              </a:rPr>
              <a:t> step, kill </a:t>
            </a:r>
            <a:r>
              <a:rPr sz="1600" b="0" i="0" u="none">
                <a:solidFill>
                  <a:srgbClr val="1A1A1A"/>
                </a:solidFill>
                <a:latin typeface="Consolas"/>
              </a:rPr>
              <a:t>mcpUsage</a:t>
            </a:r>
            <a:r>
              <a:rPr sz="1600" b="0" i="0" u="none">
                <a:solidFill>
                  <a:srgbClr val="1A1A1A"/>
                </a:solidFill>
              </a:rPr>
              <a:t> drift in the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35807"/>
            <a:ext cx="11094415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The umbrella UI, the tool explorer, the test harness, the docker stack — all of those are app-platform concerns and stay app-side. </a:t>
            </a:r>
            <a:r>
              <a:rPr sz="1800" b="1" i="0" u="none">
                <a:solidFill>
                  <a:srgbClr val="1A1A1A"/>
                </a:solidFill>
              </a:rPr>
              <a:t>They're not CUGA's job.</a:t>
            </a:r>
            <a:r>
              <a:rPr sz="1800" b="0" i="0" u="none">
                <a:solidFill>
                  <a:srgbClr val="1A1A1A"/>
                </a:solidFill>
              </a:rPr>
              <a:t> But the four above 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 b="0" i="0" u="none">
                <a:solidFill>
                  <a:srgbClr val="555555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 u="none">
                <a:solidFill>
                  <a:srgbClr val="1A1A1A"/>
                </a:solidFill>
              </a:rPr>
              <a:t>TL;DR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640080" cy="36576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0" i="0" u="none">
                <a:solidFill>
                  <a:srgbClr val="1A1A1A"/>
                </a:solidFill>
              </a:rPr>
              <a:t>Built a </a:t>
            </a:r>
            <a:r>
              <a:rPr sz="1600" b="1" i="0" u="none">
                <a:solidFill>
                  <a:srgbClr val="1A1A1A"/>
                </a:solidFill>
              </a:rPr>
              <a:t>23-app agent platform</a:t>
            </a:r>
            <a:r>
              <a:rPr sz="1600" b="0" i="0" u="none">
                <a:solidFill>
                  <a:srgbClr val="1A1A1A"/>
                </a:solidFill>
              </a:rPr>
              <a:t> on CUGA — running, tested, documented.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0" i="0" u="none">
                <a:solidFill>
                  <a:srgbClr val="1A1A1A"/>
                </a:solidFill>
              </a:rPr>
              <a:t>The shape is </a:t>
            </a:r>
            <a:r>
              <a:rPr sz="1600" b="1" i="0" u="none">
                <a:solidFill>
                  <a:srgbClr val="1A1A1A"/>
                </a:solidFill>
              </a:rPr>
              <a:t>CUGA + MCP servers + umbrella UI</a:t>
            </a:r>
            <a:r>
              <a:rPr sz="1600" b="0" i="0" u="none">
                <a:solidFill>
                  <a:srgbClr val="1A1A1A"/>
                </a:solidFill>
              </a:rPr>
              <a:t>, all containerized.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1" i="0" u="none">
                <a:solidFill>
                  <a:srgbClr val="1A1A1A"/>
                </a:solidFill>
              </a:rPr>
              <a:t>CUGA is ~10% of the code</a:t>
            </a:r>
            <a:r>
              <a:rPr sz="1600" b="0" i="0" u="none">
                <a:solidFill>
                  <a:srgbClr val="1A1A1A"/>
                </a:solidFill>
              </a:rPr>
              <a:t> that actually runs. The rest is scaffolding we had to write because CUGA doesn't ship it.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0" i="0" u="none">
                <a:solidFill>
                  <a:srgbClr val="1A1A1A"/>
                </a:solidFill>
              </a:rPr>
              <a:t>The </a:t>
            </a:r>
            <a:r>
              <a:rPr sz="1600" b="1" i="0" u="none">
                <a:solidFill>
                  <a:srgbClr val="1A1A1A"/>
                </a:solidFill>
              </a:rPr>
              <a:t>biggest fixable gaps</a:t>
            </a:r>
            <a:r>
              <a:rPr sz="1600" b="0" i="0" u="none">
                <a:solidFill>
                  <a:srgbClr val="1A1A1A"/>
                </a:solidFill>
              </a:rPr>
              <a:t> are: native MCP, LLM factory, declarative app manifest, hot tool reload.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 i="0" u="none">
                <a:solidFill>
                  <a:srgbClr val="555555"/>
                </a:solidFill>
              </a:rPr>
              <a:t>• </a:t>
            </a:r>
            <a:r>
              <a:rPr sz="1600" b="0" i="0" u="none">
                <a:solidFill>
                  <a:srgbClr val="1A1A1A"/>
                </a:solidFill>
              </a:rPr>
              <a:t>New apps cost ~90 min mostly because of registry sprawl, not agent logic. Closing the four gaps brings that to ~30 min.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 b="0" i="0" u="none">
                <a:solidFill>
                  <a:srgbClr val="555555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 u="none">
                <a:solidFill>
                  <a:srgbClr val="1A1A1A"/>
                </a:solidFill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640080" cy="36576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 u="none">
                <a:solidFill>
                  <a:srgbClr val="1A1A1A"/>
                </a:solidFill>
              </a:rPr>
              <a:t>Repo: </a:t>
            </a:r>
            <a:r>
              <a:rPr sz="1800" b="0" i="0" u="none">
                <a:solidFill>
                  <a:srgbClr val="1A1A1A"/>
                </a:solidFill>
                <a:latin typeface="Consolas"/>
              </a:rPr>
              <a:t>/home/amurthi/work/agent-apps/cuga-apps</a:t>
            </a:r>
            <a:r>
              <a:rPr sz="1800" b="0" i="0" u="none">
                <a:solidFill>
                  <a:srgbClr val="1A1A1A"/>
                </a:solidFill>
              </a:rPr>
              <a:t> Docs: </a:t>
            </a:r>
            <a:r>
              <a:rPr sz="1800" b="0" i="0" u="none">
                <a:solidFill>
                  <a:srgbClr val="1A1A1A"/>
                </a:solidFill>
                <a:latin typeface="Consolas"/>
              </a:rPr>
              <a:t>cuga-apps/docs/{GETTING_STARTED,ADDING_AN_APP,ADDING_A_TOOL,TESTING}.md</a:t>
            </a:r>
            <a:r>
              <a:rPr sz="1800" b="0" i="0" u="none">
                <a:solidFill>
                  <a:srgbClr val="1A1A1A"/>
                </a:solidFill>
              </a:rPr>
              <a:t> Stack: </a:t>
            </a:r>
            <a:r>
              <a:rPr sz="1800" b="0" i="0" u="none">
                <a:solidFill>
                  <a:srgbClr val="1A1A1A"/>
                </a:solidFill>
                <a:latin typeface="Consolas"/>
              </a:rPr>
              <a:t>docker compose up -d --build</a:t>
            </a:r>
            <a:r>
              <a:rPr sz="1800" b="0" i="0" u="none">
                <a:solidFill>
                  <a:srgbClr val="1A1A1A"/>
                </a:solidFill>
              </a:rPr>
              <a:t> → http://localhost:3001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 b="0" i="0" u="none">
                <a:solidFill>
                  <a:srgbClr val="555555"/>
                </a:solidFill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